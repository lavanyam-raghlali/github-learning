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-724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>
          <a:xfrm>
            <a:off x="777240" y="1143000"/>
            <a:ext cx="10652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2B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2039112" cy="128016"/>
          </a:xfrm>
          <a:prstGeom prst="rect">
            <a:avLst/>
          </a:prstGeom>
          <a:solidFill>
            <a:srgbClr val="D65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2039112" cy="128016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29968" y="0"/>
            <a:ext cx="2039112" cy="128016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29968" y="6729984"/>
            <a:ext cx="2039112" cy="1280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059936" y="0"/>
            <a:ext cx="2039112" cy="128016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059936" y="6729984"/>
            <a:ext cx="2039112" cy="128016"/>
          </a:xfrm>
          <a:prstGeom prst="rect">
            <a:avLst/>
          </a:prstGeom>
          <a:solidFill>
            <a:srgbClr val="A5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89904" y="0"/>
            <a:ext cx="2039112" cy="1280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89904" y="6729984"/>
            <a:ext cx="2039112" cy="128016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119872" y="0"/>
            <a:ext cx="2039112" cy="128016"/>
          </a:xfrm>
          <a:prstGeom prst="rect">
            <a:avLst/>
          </a:prstGeom>
          <a:solidFill>
            <a:srgbClr val="A5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119872" y="6729984"/>
            <a:ext cx="2039112" cy="128016"/>
          </a:xfrm>
          <a:prstGeom prst="rect">
            <a:avLst/>
          </a:prstGeom>
          <a:solidFill>
            <a:srgbClr val="D65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9840" y="0"/>
            <a:ext cx="2039112" cy="128016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149840" y="6729984"/>
            <a:ext cx="2039112" cy="128016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43809" y="1818861"/>
            <a:ext cx="6559809" cy="1615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7E57C2"/>
                </a:solidFill>
              </a:defRPr>
            </a:pPr>
            <a:r>
              <a:t>MODULE 4</a:t>
            </a:r>
          </a:p>
          <a:p>
            <a:pPr algn="ctr">
              <a:defRPr sz="4400" b="1">
                <a:solidFill>
                  <a:srgbClr val="42A5F5"/>
                </a:solidFill>
              </a:defRPr>
            </a:pPr>
            <a:r>
              <a:t>Collaboration Using GitHub</a:t>
            </a:r>
          </a:p>
          <a:p>
            <a:pPr algn="ctr">
              <a:defRPr sz="2100">
                <a:solidFill>
                  <a:srgbClr val="433756"/>
                </a:solidFill>
              </a:defRPr>
            </a:pPr>
            <a:r>
              <a:rPr lang="en-US" dirty="0" smtClean="0"/>
              <a:t> </a:t>
            </a: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28800" y="480060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>
                <a:solidFill>
                  <a:srgbClr val="433756"/>
                </a:solidFill>
              </a:defRPr>
            </a:pPr>
            <a:r>
              <a:t>GitHub Essentials for Non-Programmers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2118543" y="0"/>
            <a:ext cx="73152" cy="68580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16768" y="6318504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7E57C2"/>
                </a:solidFill>
              </a:defRPr>
            </a:pPr>
            <a: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039112" cy="118872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029968" y="0"/>
            <a:ext cx="2039112" cy="11887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059936" y="0"/>
            <a:ext cx="2039112" cy="118872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89904" y="0"/>
            <a:ext cx="2039112" cy="118872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19872" y="0"/>
            <a:ext cx="2039112" cy="118872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149840" y="0"/>
            <a:ext cx="2039112" cy="118872"/>
          </a:xfrm>
          <a:prstGeom prst="rect">
            <a:avLst/>
          </a:prstGeom>
          <a:solidFill>
            <a:srgbClr val="EC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65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100255" y="0"/>
            <a:ext cx="91440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33756"/>
                </a:solidFill>
              </a:defRPr>
            </a:pPr>
            <a:r>
              <a:t>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234440"/>
            <a:ext cx="10424160" cy="556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433756"/>
                </a:solidFill>
              </a:defRPr>
            </a:pPr>
            <a:r>
              <a:t>1. </a:t>
            </a:r>
            <a:r>
              <a:rPr sz="2000"/>
              <a:t>Introduction to Collaboration in GitHub</a:t>
            </a:r>
          </a:p>
          <a:p>
            <a:pPr>
              <a:spcAft>
                <a:spcPts val="700"/>
              </a:spcAft>
              <a:defRPr sz="1700">
                <a:solidFill>
                  <a:srgbClr val="433756"/>
                </a:solidFill>
              </a:defRPr>
            </a:pPr>
            <a:r>
              <a:rPr sz="2000"/>
              <a:t>2. Repository Sharing</a:t>
            </a:r>
          </a:p>
          <a:p>
            <a:pPr>
              <a:spcAft>
                <a:spcPts val="700"/>
              </a:spcAft>
              <a:defRPr sz="1700">
                <a:solidFill>
                  <a:srgbClr val="433756"/>
                </a:solidFill>
              </a:defRPr>
            </a:pPr>
            <a:r>
              <a:rPr sz="2000"/>
              <a:t>3. Collaborators &amp; Access</a:t>
            </a:r>
          </a:p>
          <a:p>
            <a:pPr>
              <a:spcAft>
                <a:spcPts val="700"/>
              </a:spcAft>
              <a:defRPr sz="1700">
                <a:solidFill>
                  <a:srgbClr val="433756"/>
                </a:solidFill>
              </a:defRPr>
            </a:pPr>
            <a:r>
              <a:rPr sz="2000"/>
              <a:t>4. GitHub Issues</a:t>
            </a:r>
          </a:p>
          <a:p>
            <a:pPr>
              <a:spcAft>
                <a:spcPts val="700"/>
              </a:spcAft>
              <a:defRPr sz="1700">
                <a:solidFill>
                  <a:srgbClr val="433756"/>
                </a:solidFill>
              </a:defRPr>
            </a:pPr>
            <a:r>
              <a:rPr sz="2000"/>
              <a:t>5. GitHub Discussions</a:t>
            </a:r>
          </a:p>
          <a:p>
            <a:pPr>
              <a:spcAft>
                <a:spcPts val="700"/>
              </a:spcAft>
              <a:defRPr sz="1700">
                <a:solidFill>
                  <a:srgbClr val="433756"/>
                </a:solidFill>
              </a:defRPr>
            </a:pPr>
            <a:r>
              <a:rPr sz="2000"/>
              <a:t>6. Branches</a:t>
            </a:r>
          </a:p>
          <a:p>
            <a:pPr>
              <a:spcAft>
                <a:spcPts val="700"/>
              </a:spcAft>
              <a:defRPr sz="1700">
                <a:solidFill>
                  <a:srgbClr val="433756"/>
                </a:solidFill>
              </a:defRPr>
            </a:pPr>
            <a:r>
              <a:rPr sz="2000"/>
              <a:t>7. Forking</a:t>
            </a:r>
          </a:p>
          <a:p>
            <a:pPr>
              <a:spcAft>
                <a:spcPts val="700"/>
              </a:spcAft>
              <a:defRPr sz="1700">
                <a:solidFill>
                  <a:srgbClr val="433756"/>
                </a:solidFill>
              </a:defRPr>
            </a:pPr>
            <a:r>
              <a:rPr sz="2000"/>
              <a:t>8. Branch vs Fork</a:t>
            </a:r>
          </a:p>
          <a:p>
            <a:pPr>
              <a:spcAft>
                <a:spcPts val="700"/>
              </a:spcAft>
              <a:defRPr sz="1700">
                <a:solidFill>
                  <a:srgbClr val="433756"/>
                </a:solidFill>
              </a:defRPr>
            </a:pPr>
            <a:r>
              <a:rPr sz="2000"/>
              <a:t>9. Pull Requests</a:t>
            </a:r>
          </a:p>
          <a:p>
            <a:pPr>
              <a:spcAft>
                <a:spcPts val="700"/>
              </a:spcAft>
              <a:defRPr sz="1700">
                <a:solidFill>
                  <a:srgbClr val="433756"/>
                </a:solidFill>
              </a:defRPr>
            </a:pPr>
            <a:r>
              <a:rPr sz="2000"/>
              <a:t>10. Notifications</a:t>
            </a:r>
          </a:p>
          <a:p>
            <a:pPr>
              <a:spcAft>
                <a:spcPts val="700"/>
              </a:spcAft>
              <a:defRPr sz="1700">
                <a:solidFill>
                  <a:srgbClr val="433756"/>
                </a:solidFill>
              </a:defRPr>
            </a:pPr>
            <a:r>
              <a:rPr sz="2000"/>
              <a:t>11. Collaboration Best Practices</a:t>
            </a:r>
          </a:p>
          <a:p>
            <a:pPr>
              <a:spcAft>
                <a:spcPts val="700"/>
              </a:spcAft>
              <a:defRPr sz="1700">
                <a:solidFill>
                  <a:srgbClr val="433756"/>
                </a:solidFill>
              </a:defRPr>
            </a:pPr>
            <a:r>
              <a:rPr sz="2000"/>
              <a:t>12. Team Workflow Example</a:t>
            </a:r>
          </a:p>
          <a:p>
            <a:pPr>
              <a:spcAft>
                <a:spcPts val="700"/>
              </a:spcAft>
              <a:defRPr sz="1700">
                <a:solidFill>
                  <a:srgbClr val="433756"/>
                </a:solidFill>
              </a:defRPr>
            </a:pPr>
            <a:r>
              <a:rPr sz="2000"/>
              <a:t>13. Quick Recap</a:t>
            </a:r>
          </a:p>
          <a:p>
            <a:pPr>
              <a:spcAft>
                <a:spcPts val="700"/>
              </a:spcAft>
              <a:defRPr sz="1700">
                <a:solidFill>
                  <a:srgbClr val="433756"/>
                </a:solidFill>
              </a:defRPr>
            </a:pPr>
            <a:r>
              <a:rPr sz="2000"/>
              <a:t>14. Student Activity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C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118543" y="0"/>
            <a:ext cx="7315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6768" y="6318504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2A5F5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433756"/>
                </a:solidFill>
              </a:defRPr>
            </a:pPr>
            <a:r>
              <a:t>Module 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5179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ü"/>
              <a:defRPr sz="1800" b="0">
                <a:solidFill>
                  <a:srgbClr val="433756"/>
                </a:solidFill>
              </a:defRPr>
            </a:pPr>
            <a:r>
              <a:rPr sz="2200"/>
              <a:t>Understand how GitHub supports collaboration among individuals and teams.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ü"/>
              <a:defRPr sz="1800" b="0">
                <a:solidFill>
                  <a:srgbClr val="433756"/>
                </a:solidFill>
              </a:defRPr>
            </a:pPr>
            <a:r>
              <a:rPr sz="2200"/>
              <a:t>Share repositories and manage collaborator access.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ü"/>
              <a:defRPr sz="1800" b="0">
                <a:solidFill>
                  <a:srgbClr val="433756"/>
                </a:solidFill>
              </a:defRPr>
            </a:pPr>
            <a:r>
              <a:rPr sz="2200"/>
              <a:t>Use Issues, Discussions, Pull Requests, and Projects for teamwork.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ü"/>
              <a:defRPr sz="1800" b="0">
                <a:solidFill>
                  <a:srgbClr val="433756"/>
                </a:solidFill>
              </a:defRPr>
            </a:pPr>
            <a:r>
              <a:rPr sz="2200"/>
              <a:t>Understand branches, forks, and pull requests.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ü"/>
              <a:defRPr sz="1800" b="0">
                <a:solidFill>
                  <a:srgbClr val="433756"/>
                </a:solidFill>
              </a:defRPr>
            </a:pPr>
            <a:r>
              <a:rPr sz="2200"/>
              <a:t>Review and comment on documentation changes.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ü"/>
              <a:defRPr sz="1800" b="0">
                <a:solidFill>
                  <a:srgbClr val="433756"/>
                </a:solidFill>
              </a:defRPr>
            </a:pPr>
            <a:r>
              <a:rPr sz="2200"/>
              <a:t>Organize projects using labels and milestones.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ü"/>
              <a:defRPr sz="1800" b="0">
                <a:solidFill>
                  <a:srgbClr val="433756"/>
                </a:solidFill>
              </a:defRPr>
            </a:pPr>
            <a:r>
              <a:rPr sz="2200"/>
              <a:t>Apply best practices for collaborative documentation.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ü"/>
              <a:defRPr sz="1800" b="0">
                <a:solidFill>
                  <a:srgbClr val="433756"/>
                </a:solidFill>
              </a:defRPr>
            </a:pPr>
            <a:r>
              <a:rPr sz="2200"/>
              <a:t>Understand copyright, licensing, and academic integrity.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00255" y="0"/>
            <a:ext cx="91440" cy="6858000"/>
          </a:xfrm>
          <a:prstGeom prst="rect">
            <a:avLst/>
          </a:prstGeom>
          <a:solidFill>
            <a:srgbClr val="A5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9" name="Oval 8"/>
          <p:cNvSpPr/>
          <p:nvPr/>
        </p:nvSpPr>
        <p:spPr>
          <a:xfrm>
            <a:off x="201168" y="201168"/>
            <a:ext cx="182880" cy="18288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0" name="Oval 9"/>
          <p:cNvSpPr/>
          <p:nvPr/>
        </p:nvSpPr>
        <p:spPr>
          <a:xfrm>
            <a:off x="11612880" y="201168"/>
            <a:ext cx="182880" cy="18288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1168" y="6172200"/>
            <a:ext cx="182880" cy="1828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612880" y="6172200"/>
            <a:ext cx="182880" cy="182880"/>
          </a:xfrm>
          <a:prstGeom prst="ellipse">
            <a:avLst/>
          </a:prstGeom>
          <a:solidFill>
            <a:srgbClr val="A5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2118543" y="0"/>
            <a:ext cx="73152" cy="685800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16768" y="6318504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6C6DA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433756"/>
                </a:solidFill>
              </a:defRPr>
            </a:pPr>
            <a:r>
              <a:t>1. Introduction to Collaboration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00200"/>
            <a:ext cx="3626456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33521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175BF"/>
                </a:solidFill>
              </a:defRPr>
            </a:pPr>
            <a:r>
              <a:rPr sz="2400"/>
              <a:t>Traditional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3017520" cy="3083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Wingdings" pitchFamily="2" charset="2"/>
              <a:buChar char="Ø"/>
              <a:defRPr sz="1400">
                <a:solidFill>
                  <a:srgbClr val="433756"/>
                </a:solidFill>
              </a:defRPr>
            </a:pPr>
            <a:r>
              <a:rPr sz="2000"/>
              <a:t>Email attachments</a:t>
            </a:r>
            <a:br>
              <a:rPr sz="2000"/>
            </a:br>
            <a:r>
              <a:rPr sz="2000"/>
              <a:t>USB drives</a:t>
            </a:r>
            <a:br>
              <a:rPr sz="2000"/>
            </a:br>
            <a:r>
              <a:rPr sz="2000"/>
              <a:t>Messaging apps</a:t>
            </a:r>
            <a:br>
              <a:rPr sz="2000"/>
            </a:br>
            <a:r>
              <a:rPr sz="2000"/>
              <a:t>Multiple document copies</a:t>
            </a:r>
            <a:br>
              <a:rPr sz="2000"/>
            </a:br>
            <a:r>
              <a:rPr sz="2000"/>
              <a:t>Manual version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261584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175BF"/>
                </a:solidFill>
              </a:defRPr>
            </a:pPr>
            <a:r>
              <a:rPr sz="2400"/>
              <a:t>Common Problems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3017520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433756"/>
                </a:solidFill>
              </a:defRPr>
            </a:pPr>
            <a:r>
              <a:rPr sz="2000"/>
              <a:t>Duplicate files</a:t>
            </a:r>
            <a:br>
              <a:rPr sz="2000"/>
            </a:br>
            <a:r>
              <a:rPr sz="2000"/>
              <a:t>Latest-version confusion</a:t>
            </a:r>
            <a:br>
              <a:rPr sz="2000"/>
            </a:br>
            <a:r>
              <a:rPr sz="2000"/>
              <a:t>Accidental overwriting</a:t>
            </a:r>
            <a:br>
              <a:rPr sz="2000"/>
            </a:br>
            <a:r>
              <a:rPr sz="2000"/>
              <a:t>Lost changes</a:t>
            </a:r>
            <a:br>
              <a:rPr sz="2000"/>
            </a:br>
            <a:r>
              <a:rPr sz="2000"/>
              <a:t>Difficult contribution tracking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1732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1600200"/>
            <a:ext cx="238821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175BF"/>
                </a:solidFill>
              </a:defRPr>
            </a:pPr>
            <a:r>
              <a:rPr sz="2400"/>
              <a:t>GitHub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103120"/>
            <a:ext cx="3017520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433756"/>
                </a:solidFill>
              </a:defRPr>
            </a:pPr>
            <a:r>
              <a:rPr sz="2000"/>
              <a:t>Central repository</a:t>
            </a:r>
            <a:br>
              <a:rPr sz="2000"/>
            </a:br>
            <a:r>
              <a:rPr sz="2000"/>
              <a:t>Version history</a:t>
            </a:r>
            <a:br>
              <a:rPr sz="2000"/>
            </a:br>
            <a:r>
              <a:rPr sz="2000"/>
              <a:t>Transparent changes</a:t>
            </a:r>
            <a:br>
              <a:rPr sz="2000"/>
            </a:br>
            <a:r>
              <a:rPr sz="2000"/>
              <a:t>Controlled access</a:t>
            </a:r>
            <a:br>
              <a:rPr sz="2000"/>
            </a:br>
            <a:r>
              <a:rPr sz="2000"/>
              <a:t>Team communication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A5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100255" y="0"/>
            <a:ext cx="91440" cy="68580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7" name="Oval 16"/>
          <p:cNvSpPr/>
          <p:nvPr/>
        </p:nvSpPr>
        <p:spPr>
          <a:xfrm>
            <a:off x="201168" y="201168"/>
            <a:ext cx="182880" cy="18288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612880" y="201168"/>
            <a:ext cx="182880" cy="1828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9" name="Oval 18"/>
          <p:cNvSpPr/>
          <p:nvPr/>
        </p:nvSpPr>
        <p:spPr>
          <a:xfrm>
            <a:off x="201168" y="6172200"/>
            <a:ext cx="182880" cy="182880"/>
          </a:xfrm>
          <a:prstGeom prst="ellipse">
            <a:avLst/>
          </a:prstGeom>
          <a:solidFill>
            <a:srgbClr val="A5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612880" y="6172200"/>
            <a:ext cx="182880" cy="18288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C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2118543" y="0"/>
            <a:ext cx="73152" cy="68580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716768" y="6318504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6BB6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433756"/>
                </a:solidFill>
              </a:defRPr>
            </a:pPr>
            <a:r>
              <a:t>Benefits of GitHub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815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  <a:defRPr sz="2000" b="0">
                <a:solidFill>
                  <a:srgbClr val="433756"/>
                </a:solidFill>
              </a:defRPr>
            </a:pPr>
            <a:r>
              <a:t>Single source of truth for project files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  <a:defRPr sz="2000" b="0">
                <a:solidFill>
                  <a:srgbClr val="433756"/>
                </a:solidFill>
              </a:defRPr>
            </a:pPr>
            <a:r>
              <a:t>Automatic version history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  <a:defRPr sz="2000" b="0">
                <a:solidFill>
                  <a:srgbClr val="433756"/>
                </a:solidFill>
              </a:defRPr>
            </a:pPr>
            <a:r>
              <a:t>Simultaneous collaboration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  <a:defRPr sz="2000" b="0">
                <a:solidFill>
                  <a:srgbClr val="433756"/>
                </a:solidFill>
              </a:defRPr>
            </a:pPr>
            <a:r>
              <a:t>Transparent change tracking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  <a:defRPr sz="2000" b="0">
                <a:solidFill>
                  <a:srgbClr val="433756"/>
                </a:solidFill>
              </a:defRPr>
            </a:pPr>
            <a:r>
              <a:t>Easy communication and feedback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  <a:defRPr sz="2000" b="0">
                <a:solidFill>
                  <a:srgbClr val="433756"/>
                </a:solidFill>
              </a:defRPr>
            </a:pPr>
            <a:r>
              <a:t>Controlled access permissions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  <a:defRPr sz="2000" b="0">
                <a:solidFill>
                  <a:srgbClr val="433756"/>
                </a:solidFill>
              </a:defRPr>
            </a:pPr>
            <a:r>
              <a:t>Better project organization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  <a:defRPr sz="2000" b="0">
                <a:solidFill>
                  <a:srgbClr val="433756"/>
                </a:solidFill>
              </a:defRPr>
            </a:pPr>
            <a:r>
              <a:t>Secure cloud-based storage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A5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00255" y="0"/>
            <a:ext cx="91440" cy="6858000"/>
          </a:xfrm>
          <a:prstGeom prst="rect">
            <a:avLst/>
          </a:prstGeom>
          <a:solidFill>
            <a:srgbClr val="D65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9" name="Oval 8"/>
          <p:cNvSpPr/>
          <p:nvPr/>
        </p:nvSpPr>
        <p:spPr>
          <a:xfrm>
            <a:off x="201168" y="201168"/>
            <a:ext cx="182880" cy="1828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0" name="Oval 9"/>
          <p:cNvSpPr/>
          <p:nvPr/>
        </p:nvSpPr>
        <p:spPr>
          <a:xfrm>
            <a:off x="11612880" y="201168"/>
            <a:ext cx="182880" cy="182880"/>
          </a:xfrm>
          <a:prstGeom prst="ellipse">
            <a:avLst/>
          </a:prstGeom>
          <a:solidFill>
            <a:srgbClr val="A5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1168" y="6172200"/>
            <a:ext cx="182880" cy="18288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612880" y="6172200"/>
            <a:ext cx="182880" cy="182880"/>
          </a:xfrm>
          <a:prstGeom prst="ellipse">
            <a:avLst/>
          </a:prstGeom>
          <a:solidFill>
            <a:srgbClr val="D65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2118543" y="0"/>
            <a:ext cx="73152" cy="685800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16768" y="6318504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A72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433756"/>
                </a:solidFill>
              </a:defRPr>
            </a:pPr>
            <a:r>
              <a:t>2. Repository Sharing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240508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175BF"/>
                </a:solidFill>
              </a:defRPr>
            </a:pPr>
            <a:r>
              <a:rPr sz="2400"/>
              <a:t>Public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475488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33756"/>
                </a:solidFill>
              </a:defRPr>
            </a:pPr>
            <a:r>
              <a:rPr sz="2000"/>
              <a:t>Anyone can view the repository.</a:t>
            </a:r>
            <a:br>
              <a:rPr sz="2000"/>
            </a:br>
            <a:r>
              <a:rPr sz="2000"/>
              <a:t/>
            </a:r>
            <a:br>
              <a:rPr sz="2000"/>
            </a:br>
            <a:r>
              <a:rPr sz="2000"/>
              <a:t>Suitable for:</a:t>
            </a:r>
            <a:br>
              <a:rPr sz="2000"/>
            </a:br>
            <a:r>
              <a:rPr sz="2000"/>
              <a:t>• Educational resources</a:t>
            </a:r>
            <a:br>
              <a:rPr sz="2000"/>
            </a:br>
            <a:r>
              <a:rPr sz="2000"/>
              <a:t>• Open-source documentation</a:t>
            </a:r>
            <a:br>
              <a:rPr sz="2000"/>
            </a:br>
            <a:r>
              <a:rPr sz="2000"/>
              <a:t>• Public portfolios</a:t>
            </a:r>
            <a:br>
              <a:rPr sz="2000"/>
            </a:br>
            <a:r>
              <a:rPr sz="2000"/>
              <a:t>• Community projects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120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253018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175BF"/>
                </a:solidFill>
              </a:defRPr>
            </a:pPr>
            <a:r>
              <a:rPr sz="2400"/>
              <a:t>Private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75488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33756"/>
                </a:solidFill>
              </a:defRPr>
            </a:pPr>
            <a:r>
              <a:rPr sz="2000"/>
              <a:t>Access is limited to invited users.</a:t>
            </a:r>
            <a:br>
              <a:rPr sz="2000"/>
            </a:br>
            <a:r>
              <a:rPr sz="2000"/>
              <a:t/>
            </a:r>
            <a:br>
              <a:rPr sz="2000"/>
            </a:br>
            <a:r>
              <a:rPr sz="2000"/>
              <a:t>Suitable for:</a:t>
            </a:r>
            <a:br>
              <a:rPr sz="2000"/>
            </a:br>
            <a:r>
              <a:rPr sz="2000"/>
              <a:t>• Company documents</a:t>
            </a:r>
            <a:br>
              <a:rPr sz="2000"/>
            </a:br>
            <a:r>
              <a:rPr sz="2000"/>
              <a:t>• Research projects</a:t>
            </a:r>
            <a:br>
              <a:rPr sz="2000"/>
            </a:br>
            <a:r>
              <a:rPr sz="2000"/>
              <a:t>• Student assignments</a:t>
            </a:r>
            <a:br>
              <a:rPr sz="2000"/>
            </a:br>
            <a:r>
              <a:rPr sz="2000"/>
              <a:t>• Internal documentation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65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100255" y="0"/>
            <a:ext cx="91440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4" name="Oval 13"/>
          <p:cNvSpPr/>
          <p:nvPr/>
        </p:nvSpPr>
        <p:spPr>
          <a:xfrm>
            <a:off x="201168" y="201168"/>
            <a:ext cx="182880" cy="182880"/>
          </a:xfrm>
          <a:prstGeom prst="ellipse">
            <a:avLst/>
          </a:prstGeom>
          <a:solidFill>
            <a:srgbClr val="A5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612880" y="201168"/>
            <a:ext cx="182880" cy="18288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6" name="Oval 15"/>
          <p:cNvSpPr/>
          <p:nvPr/>
        </p:nvSpPr>
        <p:spPr>
          <a:xfrm>
            <a:off x="201168" y="6172200"/>
            <a:ext cx="182880" cy="182880"/>
          </a:xfrm>
          <a:prstGeom prst="ellipse">
            <a:avLst/>
          </a:prstGeom>
          <a:solidFill>
            <a:srgbClr val="D65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612880" y="6172200"/>
            <a:ext cx="182880" cy="18288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C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118543" y="0"/>
            <a:ext cx="73152" cy="68580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16768" y="6318504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C407A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433756"/>
                </a:solidFill>
              </a:defRPr>
            </a:pPr>
            <a:r>
              <a:t>3. Collaborators &amp;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005840"/>
            <a:ext cx="10607040" cy="577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700" b="0">
                <a:solidFill>
                  <a:srgbClr val="433756"/>
                </a:solidFill>
              </a:defRPr>
            </a:pPr>
            <a:r>
              <a:rPr sz="2400"/>
              <a:t>A collaborator is a person who has permission to work on a repository.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700" b="0">
                <a:solidFill>
                  <a:srgbClr val="433756"/>
                </a:solidFill>
              </a:defRPr>
            </a:pPr>
            <a:r>
              <a:rPr sz="2400"/>
              <a:t>Depending on permissions, collaborators may upload files, edit documents, review content, create Issues, participate in Discussions, and submit Pull Requests.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700" b="0">
                <a:solidFill>
                  <a:srgbClr val="433756"/>
                </a:solidFill>
              </a:defRPr>
            </a:pPr>
            <a:r>
              <a:rPr sz="2400"/>
              <a:t>Typical process: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defRPr sz="1500">
                <a:solidFill>
                  <a:srgbClr val="433756"/>
                </a:solidFill>
              </a:defRPr>
            </a:pPr>
            <a:r>
              <a:rPr sz="2400" b="1">
                <a:solidFill>
                  <a:srgbClr val="FF0000"/>
                </a:solidFill>
              </a:rPr>
              <a:t>Open the repository → Settings → Collaborators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defRPr sz="1500">
                <a:solidFill>
                  <a:srgbClr val="433756"/>
                </a:solidFill>
              </a:defRPr>
            </a:pPr>
            <a:r>
              <a:rPr sz="2400" b="1">
                <a:solidFill>
                  <a:srgbClr val="FF0000"/>
                </a:solidFill>
              </a:rPr>
              <a:t>Enter the GitHub username and send an invitation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defRPr sz="1500">
                <a:solidFill>
                  <a:srgbClr val="433756"/>
                </a:solidFill>
              </a:defRPr>
            </a:pPr>
            <a:r>
              <a:rPr sz="2400" b="1">
                <a:solidFill>
                  <a:srgbClr val="FF0000"/>
                </a:solidFill>
              </a:rPr>
              <a:t>The collaborator accepts the invitation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700" b="0">
                <a:solidFill>
                  <a:srgbClr val="433756"/>
                </a:solidFill>
              </a:defRPr>
            </a:pPr>
            <a:r>
              <a:rPr sz="2400"/>
              <a:t>Best practice: assign responsibilities, communicate clearly, document significant changes, and review access regularly.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D65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00255" y="0"/>
            <a:ext cx="91440" cy="6858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9" name="Oval 8"/>
          <p:cNvSpPr/>
          <p:nvPr/>
        </p:nvSpPr>
        <p:spPr>
          <a:xfrm>
            <a:off x="201168" y="201168"/>
            <a:ext cx="182880" cy="18288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0" name="Oval 9"/>
          <p:cNvSpPr/>
          <p:nvPr/>
        </p:nvSpPr>
        <p:spPr>
          <a:xfrm>
            <a:off x="11612880" y="201168"/>
            <a:ext cx="182880" cy="182880"/>
          </a:xfrm>
          <a:prstGeom prst="ellipse">
            <a:avLst/>
          </a:prstGeom>
          <a:solidFill>
            <a:srgbClr val="D65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1168" y="6172200"/>
            <a:ext cx="182880" cy="18288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612880" y="6172200"/>
            <a:ext cx="182880" cy="18288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2118543" y="0"/>
            <a:ext cx="73152" cy="68580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16768" y="6318504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AB47BC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433756"/>
                </a:solidFill>
              </a:defRPr>
            </a:pPr>
            <a:r>
              <a:t>4. GitHub Issues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3035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40033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175BF"/>
                </a:solidFill>
              </a:defRPr>
            </a:pPr>
            <a:r>
              <a:rPr sz="2400"/>
              <a:t>What is an Issue?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8463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400">
                <a:solidFill>
                  <a:srgbClr val="433756"/>
                </a:solidFill>
              </a:defRPr>
            </a:pPr>
            <a:r>
              <a:rPr sz="2400"/>
              <a:t>A structured way to track tasks, report problems, request improvements, or discuss project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3035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252537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175BF"/>
                </a:solidFill>
              </a:defRPr>
            </a:pPr>
            <a:r>
              <a:rPr sz="2400"/>
              <a:t>Issue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8463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33756"/>
                </a:solidFill>
              </a:defRPr>
            </a:pPr>
            <a:r>
              <a:rPr sz="2400"/>
              <a:t>Title</a:t>
            </a:r>
            <a:br>
              <a:rPr sz="2400"/>
            </a:br>
            <a:r>
              <a:rPr sz="2400"/>
              <a:t>Description</a:t>
            </a:r>
            <a:br>
              <a:rPr sz="2400"/>
            </a:br>
            <a:r>
              <a:rPr sz="2400"/>
              <a:t>Labels</a:t>
            </a:r>
            <a:br>
              <a:rPr sz="2400"/>
            </a:br>
            <a:r>
              <a:rPr sz="2400"/>
              <a:t>Assignee</a:t>
            </a:r>
            <a:br>
              <a:rPr sz="2400"/>
            </a:br>
            <a:r>
              <a:rPr sz="2400"/>
              <a:t>Comments</a:t>
            </a:r>
            <a:br>
              <a:rPr sz="2400"/>
            </a:br>
            <a:r>
              <a:rPr sz="2400"/>
              <a:t>Open / Closed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4663440"/>
            <a:ext cx="10469880" cy="502920"/>
          </a:xfrm>
          <a:prstGeom prst="roundRect">
            <a:avLst/>
          </a:prstGeom>
          <a:solidFill>
            <a:srgbClr val="EFE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433756"/>
                </a:solidFill>
              </a:defRPr>
            </a:pPr>
            <a:r>
              <a:rPr sz="1600" b="1"/>
              <a:t>Example: “Update Literature Review” — Add five recent journal articles and assign the task to a team member.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65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2100255" y="0"/>
            <a:ext cx="91440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5" name="Oval 14"/>
          <p:cNvSpPr/>
          <p:nvPr/>
        </p:nvSpPr>
        <p:spPr>
          <a:xfrm>
            <a:off x="201168" y="201168"/>
            <a:ext cx="182880" cy="182880"/>
          </a:xfrm>
          <a:prstGeom prst="ellipse">
            <a:avLst/>
          </a:prstGeom>
          <a:solidFill>
            <a:srgbClr val="D65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612880" y="201168"/>
            <a:ext cx="182880" cy="18288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7" name="Oval 16"/>
          <p:cNvSpPr/>
          <p:nvPr/>
        </p:nvSpPr>
        <p:spPr>
          <a:xfrm>
            <a:off x="201168" y="6172200"/>
            <a:ext cx="182880" cy="18288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612880" y="6172200"/>
            <a:ext cx="182880" cy="1828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2118543" y="0"/>
            <a:ext cx="73152" cy="6858000"/>
          </a:xfrm>
          <a:prstGeom prst="rect">
            <a:avLst/>
          </a:prstGeom>
          <a:solidFill>
            <a:srgbClr val="EC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716768" y="6318504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968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433756"/>
                </a:solidFill>
              </a:defRPr>
            </a:pPr>
            <a:r>
              <a:t>5. GitHub Discussions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129952"/>
            <a:ext cx="1060704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800" b="0">
                <a:solidFill>
                  <a:srgbClr val="433756"/>
                </a:solidFill>
              </a:defRPr>
            </a:pPr>
            <a:r>
              <a:rPr sz="2400"/>
              <a:t>Discussions provide a forum for questions, ideas, announcements, and knowledge sharing without turning every conversation into an Issue.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 b="0">
                <a:solidFill>
                  <a:srgbClr val="433756"/>
                </a:solidFill>
              </a:defRPr>
            </a:pPr>
            <a:r>
              <a:rPr sz="2400"/>
              <a:t>Typical topics: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Ø"/>
              <a:defRPr sz="1600">
                <a:solidFill>
                  <a:srgbClr val="433756"/>
                </a:solidFill>
              </a:defRPr>
            </a:pPr>
            <a:r>
              <a:rPr sz="2400" b="1">
                <a:solidFill>
                  <a:srgbClr val="FF0000"/>
                </a:solidFill>
              </a:rPr>
              <a:t>Project planning and brainstorming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Ø"/>
              <a:defRPr sz="1600">
                <a:solidFill>
                  <a:srgbClr val="433756"/>
                </a:solidFill>
              </a:defRPr>
            </a:pPr>
            <a:r>
              <a:rPr sz="2400" b="1">
                <a:solidFill>
                  <a:srgbClr val="FF0000"/>
                </a:solidFill>
              </a:rPr>
              <a:t>Frequently Asked Questions (FAQs)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Ø"/>
              <a:defRPr sz="1600">
                <a:solidFill>
                  <a:srgbClr val="433756"/>
                </a:solidFill>
              </a:defRPr>
            </a:pPr>
            <a:r>
              <a:rPr sz="2400" b="1">
                <a:solidFill>
                  <a:srgbClr val="FF0000"/>
                </a:solidFill>
              </a:rPr>
              <a:t>Research ideas and documentation improvements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Ø"/>
              <a:defRPr sz="1600">
                <a:solidFill>
                  <a:srgbClr val="433756"/>
                </a:solidFill>
              </a:defRPr>
            </a:pPr>
            <a:r>
              <a:rPr sz="2400" b="1">
                <a:solidFill>
                  <a:srgbClr val="FF0000"/>
                </a:solidFill>
              </a:rPr>
              <a:t>Meeting announcements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 b="0">
                <a:solidFill>
                  <a:srgbClr val="433756"/>
                </a:solidFill>
              </a:defRPr>
            </a:pPr>
            <a:r>
              <a:rPr sz="2400"/>
              <a:t>Advantages: organized conversations, reduced email, preserved project knowledge, and stronger teamwork</a:t>
            </a:r>
            <a: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00255" y="0"/>
            <a:ext cx="91440" cy="6858000"/>
          </a:xfrm>
          <a:prstGeom prst="rect">
            <a:avLst/>
          </a:prstGeom>
          <a:solidFill>
            <a:srgbClr val="A5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9" name="Oval 8"/>
          <p:cNvSpPr/>
          <p:nvPr/>
        </p:nvSpPr>
        <p:spPr>
          <a:xfrm>
            <a:off x="201168" y="201168"/>
            <a:ext cx="182880" cy="18288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0" name="Oval 9"/>
          <p:cNvSpPr/>
          <p:nvPr/>
        </p:nvSpPr>
        <p:spPr>
          <a:xfrm>
            <a:off x="11612880" y="201168"/>
            <a:ext cx="182880" cy="18288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1168" y="6172200"/>
            <a:ext cx="182880" cy="1828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612880" y="6172200"/>
            <a:ext cx="182880" cy="182880"/>
          </a:xfrm>
          <a:prstGeom prst="ellipse">
            <a:avLst/>
          </a:prstGeom>
          <a:solidFill>
            <a:srgbClr val="A5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2118543" y="0"/>
            <a:ext cx="73152" cy="68580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16768" y="6318504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7E57C2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433756"/>
                </a:solidFill>
              </a:defRPr>
            </a:pPr>
            <a:r>
              <a:t>6. Branches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47215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175BF"/>
                </a:solidFill>
              </a:defRPr>
            </a:pPr>
            <a:r>
              <a:rPr sz="2400"/>
              <a:t>What is a Branch?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32004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33756"/>
                </a:solidFill>
              </a:defRPr>
            </a:pPr>
            <a:r>
              <a:rPr sz="2800"/>
              <a:t>An independent line of development used to make changes without affecting the main version.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371600"/>
            <a:ext cx="3291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0" y="1554480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175BF"/>
                </a:solidFill>
              </a:defRPr>
            </a:pPr>
            <a: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057400"/>
            <a:ext cx="28346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33756"/>
                </a:solidFill>
              </a:defRPr>
            </a:pPr>
            <a:r>
              <a:rPr sz="2400"/>
              <a:t>main → approved handbook</a:t>
            </a:r>
            <a:br>
              <a:rPr sz="2400"/>
            </a:br>
            <a:r>
              <a:rPr sz="2400"/>
              <a:t/>
            </a:r>
            <a:br>
              <a:rPr sz="2400"/>
            </a:br>
            <a:r>
              <a:rPr sz="2400"/>
              <a:t>Update-2026 → policy revisions</a:t>
            </a:r>
            <a:br>
              <a:rPr sz="2400"/>
            </a:br>
            <a:r>
              <a:rPr sz="2400"/>
              <a:t/>
            </a:r>
            <a:br>
              <a:rPr sz="2400"/>
            </a:br>
            <a:r>
              <a:rPr sz="2400"/>
              <a:t>Review → feedback</a:t>
            </a:r>
            <a:br>
              <a:rPr sz="2400"/>
            </a:br>
            <a:r>
              <a:rPr sz="2400"/>
              <a:t/>
            </a:r>
            <a:br>
              <a:rPr sz="2400"/>
            </a:br>
            <a:r>
              <a:rPr sz="2400"/>
              <a:t>Merge → approved changes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5544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175BF"/>
                </a:solidFill>
              </a:defRPr>
            </a:pPr>
            <a:r>
              <a:t>Why Branches?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057400"/>
            <a:ext cx="3017520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433756"/>
                </a:solidFill>
              </a:defRPr>
            </a:pPr>
            <a:r>
              <a:rPr sz="2400"/>
              <a:t>Safe experimentation</a:t>
            </a:r>
            <a:br>
              <a:rPr sz="2400"/>
            </a:br>
            <a:r>
              <a:rPr sz="2400"/>
              <a:t>Parallel </a:t>
            </a:r>
            <a:r>
              <a:rPr sz="2400" smtClean="0"/>
              <a:t>work</a:t>
            </a:r>
            <a:r>
              <a:rPr sz="2400"/>
              <a:t/>
            </a:r>
            <a:br>
              <a:rPr sz="2400"/>
            </a:br>
            <a:r>
              <a:rPr sz="2400"/>
              <a:t>Review before publishing</a:t>
            </a:r>
            <a:br>
              <a:rPr sz="2400"/>
            </a:br>
            <a:r>
              <a:rPr sz="2400"/>
              <a:t>Reduced risk of errors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A5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100255" y="0"/>
            <a:ext cx="91440" cy="68580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7" name="Oval 16"/>
          <p:cNvSpPr/>
          <p:nvPr/>
        </p:nvSpPr>
        <p:spPr>
          <a:xfrm>
            <a:off x="201168" y="201168"/>
            <a:ext cx="182880" cy="18288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612880" y="201168"/>
            <a:ext cx="182880" cy="1828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9" name="Oval 18"/>
          <p:cNvSpPr/>
          <p:nvPr/>
        </p:nvSpPr>
        <p:spPr>
          <a:xfrm>
            <a:off x="201168" y="6172200"/>
            <a:ext cx="182880" cy="182880"/>
          </a:xfrm>
          <a:prstGeom prst="ellipse">
            <a:avLst/>
          </a:prstGeom>
          <a:solidFill>
            <a:srgbClr val="A5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612880" y="6172200"/>
            <a:ext cx="182880" cy="18288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C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2118543" y="0"/>
            <a:ext cx="7315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716768" y="6318504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2A5F5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433756"/>
                </a:solidFill>
              </a:defRPr>
            </a:pPr>
            <a:r>
              <a:t>7. Forking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247728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175BF"/>
                </a:solidFill>
              </a:defRPr>
            </a:pPr>
            <a:r>
              <a:rPr sz="2800"/>
              <a:t>What is a Fork?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4754880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433756"/>
                </a:solidFill>
              </a:defRPr>
            </a:pPr>
            <a:r>
              <a:rPr sz="2400"/>
              <a:t>A personal copy of another user's public repository. The copy belongs to a different GitHub account and remains connected to the original project.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4173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231826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175BF"/>
                </a:solidFill>
              </a:defRPr>
            </a:pPr>
            <a:r>
              <a:rPr sz="2800"/>
              <a:t>Common Uses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061865"/>
            <a:ext cx="4754880" cy="3222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433756"/>
                </a:solidFill>
              </a:defRPr>
            </a:pPr>
            <a:r>
              <a:rPr sz="2300"/>
              <a:t>Experiment with open-source projects</a:t>
            </a:r>
            <a:br>
              <a:rPr sz="2300"/>
            </a:br>
            <a:r>
              <a:rPr sz="2300"/>
              <a:t>Suggest improvements</a:t>
            </a:r>
            <a:br>
              <a:rPr sz="2300"/>
            </a:br>
            <a:r>
              <a:rPr sz="2300"/>
              <a:t>Learn from existing work</a:t>
            </a:r>
            <a:br>
              <a:rPr sz="2300"/>
            </a:br>
            <a:r>
              <a:rPr sz="2300"/>
              <a:t>Develop changes independently</a:t>
            </a:r>
            <a:br>
              <a:rPr sz="2300"/>
            </a:br>
            <a:r>
              <a:rPr sz="2300"/>
              <a:t>Contribute changes back to the original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A5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100255" y="0"/>
            <a:ext cx="91440" cy="6858000"/>
          </a:xfrm>
          <a:prstGeom prst="rect">
            <a:avLst/>
          </a:prstGeom>
          <a:solidFill>
            <a:srgbClr val="D65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4" name="Oval 13"/>
          <p:cNvSpPr/>
          <p:nvPr/>
        </p:nvSpPr>
        <p:spPr>
          <a:xfrm>
            <a:off x="201168" y="201168"/>
            <a:ext cx="182880" cy="1828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612880" y="201168"/>
            <a:ext cx="182880" cy="182880"/>
          </a:xfrm>
          <a:prstGeom prst="ellipse">
            <a:avLst/>
          </a:prstGeom>
          <a:solidFill>
            <a:srgbClr val="A5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6" name="Oval 15"/>
          <p:cNvSpPr/>
          <p:nvPr/>
        </p:nvSpPr>
        <p:spPr>
          <a:xfrm>
            <a:off x="201168" y="6172200"/>
            <a:ext cx="182880" cy="18288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612880" y="6172200"/>
            <a:ext cx="182880" cy="182880"/>
          </a:xfrm>
          <a:prstGeom prst="ellipse">
            <a:avLst/>
          </a:prstGeom>
          <a:solidFill>
            <a:srgbClr val="D65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118543" y="0"/>
            <a:ext cx="73152" cy="685800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16768" y="6318504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6C6DA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433756"/>
                </a:solidFill>
              </a:defRPr>
            </a:pPr>
            <a:r>
              <a:t>Branch vs Fork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4983480" cy="658368"/>
          </a:xfrm>
          <a:prstGeom prst="roundRect">
            <a:avLst/>
          </a:prstGeom>
          <a:solidFill>
            <a:srgbClr val="B175BF"/>
          </a:solidFill>
          <a:ln>
            <a:solidFill>
              <a:srgbClr val="E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rPr sz="2400"/>
              <a:t>Branch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508760"/>
            <a:ext cx="4983480" cy="658368"/>
          </a:xfrm>
          <a:prstGeom prst="roundRect">
            <a:avLst/>
          </a:prstGeom>
          <a:solidFill>
            <a:srgbClr val="B175BF"/>
          </a:solidFill>
          <a:ln>
            <a:solidFill>
              <a:srgbClr val="E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rPr sz="2400"/>
              <a:t>Fork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49834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433756"/>
                </a:solidFill>
              </a:defRPr>
            </a:pPr>
            <a:r>
              <a:rPr sz="2000"/>
              <a:t>Same repository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331720"/>
            <a:ext cx="49834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433756"/>
                </a:solidFill>
              </a:defRPr>
            </a:pPr>
            <a:r>
              <a:rPr sz="2000"/>
              <a:t>Copy in another account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54680"/>
            <a:ext cx="49834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433756"/>
                </a:solidFill>
              </a:defRPr>
            </a:pPr>
            <a:r>
              <a:rPr sz="2000"/>
              <a:t>Usually for team members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154680"/>
            <a:ext cx="49834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433756"/>
                </a:solidFill>
              </a:defRPr>
            </a:pPr>
            <a:r>
              <a:rPr sz="2000"/>
              <a:t>Often for external contributors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77639"/>
            <a:ext cx="49834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433756"/>
                </a:solidFill>
              </a:defRPr>
            </a:pPr>
            <a:r>
              <a:rPr sz="2000"/>
              <a:t>Shares repository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77639"/>
            <a:ext cx="49834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433756"/>
                </a:solidFill>
              </a:defRPr>
            </a:pPr>
            <a:r>
              <a:rPr sz="2000"/>
              <a:t>Independent working copy linked to original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800600"/>
            <a:ext cx="49834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433756"/>
                </a:solidFill>
              </a:defRPr>
            </a:pPr>
            <a:r>
              <a:rPr sz="2000"/>
              <a:t>Internal collaboration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800600"/>
            <a:ext cx="49834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433756"/>
                </a:solidFill>
              </a:defRPr>
            </a:pPr>
            <a:r>
              <a:rPr sz="2000"/>
              <a:t>Open-source contribution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65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2100255" y="0"/>
            <a:ext cx="91440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8" name="Oval 17"/>
          <p:cNvSpPr/>
          <p:nvPr/>
        </p:nvSpPr>
        <p:spPr>
          <a:xfrm>
            <a:off x="201168" y="201168"/>
            <a:ext cx="182880" cy="182880"/>
          </a:xfrm>
          <a:prstGeom prst="ellipse">
            <a:avLst/>
          </a:prstGeom>
          <a:solidFill>
            <a:srgbClr val="A5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612880" y="201168"/>
            <a:ext cx="182880" cy="18288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0" name="Oval 19"/>
          <p:cNvSpPr/>
          <p:nvPr/>
        </p:nvSpPr>
        <p:spPr>
          <a:xfrm>
            <a:off x="201168" y="6172200"/>
            <a:ext cx="182880" cy="182880"/>
          </a:xfrm>
          <a:prstGeom prst="ellipse">
            <a:avLst/>
          </a:prstGeom>
          <a:solidFill>
            <a:srgbClr val="D65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612880" y="6172200"/>
            <a:ext cx="182880" cy="18288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C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2118543" y="0"/>
            <a:ext cx="73152" cy="68580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16768" y="6318504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6BB6A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433756"/>
                </a:solidFill>
              </a:defRPr>
            </a:pPr>
            <a:r>
              <a:t>8. Pull Requests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0175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175BF"/>
                </a:solidFill>
              </a:defRPr>
            </a:pPr>
            <a:r>
              <a:t>1 •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560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33756"/>
                </a:solidFill>
              </a:defRPr>
            </a:pPr>
            <a:r>
              <a:rPr sz="2000"/>
              <a:t>Create changes in a branch or fork.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325880"/>
            <a:ext cx="30175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0" y="150876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175BF"/>
                </a:solidFill>
              </a:defRPr>
            </a:pPr>
            <a:r>
              <a:t>2 •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011680"/>
            <a:ext cx="25603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33756"/>
                </a:solidFill>
              </a:defRPr>
            </a:pPr>
            <a:r>
              <a:rPr sz="2000"/>
              <a:t>Open a Pull Request to propose merging changes.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325880"/>
            <a:ext cx="30175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0" y="150876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175BF"/>
                </a:solidFill>
              </a:defRPr>
            </a:pPr>
            <a:r>
              <a:t>3 •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011680"/>
            <a:ext cx="25603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33756"/>
                </a:solidFill>
              </a:defRPr>
            </a:pPr>
            <a:r>
              <a:rPr sz="2000"/>
              <a:t>Reviewers comment, suggest changes, and approve.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1325880"/>
            <a:ext cx="20574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92640" y="1508760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175BF"/>
                </a:solidFill>
              </a:defRPr>
            </a:pPr>
            <a:r>
              <a:t>4 • Merge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011680"/>
            <a:ext cx="16002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33756"/>
                </a:solidFill>
              </a:defRPr>
            </a:pPr>
            <a:r>
              <a:rPr sz="2000"/>
              <a:t>Approved changes are merged into the target branch.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D65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2100255" y="0"/>
            <a:ext cx="91440" cy="6858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0" name="Oval 19"/>
          <p:cNvSpPr/>
          <p:nvPr/>
        </p:nvSpPr>
        <p:spPr>
          <a:xfrm>
            <a:off x="201168" y="201168"/>
            <a:ext cx="182880" cy="18288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612880" y="201168"/>
            <a:ext cx="182880" cy="182880"/>
          </a:xfrm>
          <a:prstGeom prst="ellipse">
            <a:avLst/>
          </a:prstGeom>
          <a:solidFill>
            <a:srgbClr val="D65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2" name="Oval 21"/>
          <p:cNvSpPr/>
          <p:nvPr/>
        </p:nvSpPr>
        <p:spPr>
          <a:xfrm>
            <a:off x="201168" y="6172200"/>
            <a:ext cx="182880" cy="18288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612880" y="6172200"/>
            <a:ext cx="182880" cy="18288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2118543" y="0"/>
            <a:ext cx="73152" cy="685800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716768" y="6318504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A726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433756"/>
                </a:solidFill>
              </a:defRPr>
            </a:pPr>
            <a:r>
              <a:t>Pull Request: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531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  <a:defRPr sz="2000" b="0">
                <a:solidFill>
                  <a:srgbClr val="433756"/>
                </a:solidFill>
              </a:defRPr>
            </a:pPr>
            <a:r>
              <a:rPr sz="2800"/>
              <a:t>Quality control before changes enter the official version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  <a:defRPr sz="2000" b="0">
                <a:solidFill>
                  <a:srgbClr val="433756"/>
                </a:solidFill>
              </a:defRPr>
            </a:pPr>
            <a:r>
              <a:rPr sz="2800"/>
              <a:t>Peer review and constructive feedback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  <a:defRPr sz="2000" b="0">
                <a:solidFill>
                  <a:srgbClr val="433756"/>
                </a:solidFill>
              </a:defRPr>
            </a:pPr>
            <a:r>
              <a:rPr sz="2800"/>
              <a:t>Early detection of errors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  <a:defRPr sz="2000" b="0">
                <a:solidFill>
                  <a:srgbClr val="433756"/>
                </a:solidFill>
              </a:defRPr>
            </a:pPr>
            <a:r>
              <a:rPr sz="2800"/>
              <a:t>Transparent collaboration and decision-making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  <a:defRPr sz="2000" b="0">
                <a:solidFill>
                  <a:srgbClr val="433756"/>
                </a:solidFill>
              </a:defRPr>
            </a:pPr>
            <a:r>
              <a:rPr sz="2800"/>
              <a:t>Documented history of what changed and why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  <a:defRPr sz="2000" b="0">
                <a:solidFill>
                  <a:srgbClr val="433756"/>
                </a:solidFill>
              </a:defRPr>
            </a:pPr>
            <a:r>
              <a:rPr sz="2800"/>
              <a:t>Supports both internal team workflows and open-source 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65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00255" y="0"/>
            <a:ext cx="91440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9" name="Oval 8"/>
          <p:cNvSpPr/>
          <p:nvPr/>
        </p:nvSpPr>
        <p:spPr>
          <a:xfrm>
            <a:off x="201168" y="201168"/>
            <a:ext cx="182880" cy="182880"/>
          </a:xfrm>
          <a:prstGeom prst="ellipse">
            <a:avLst/>
          </a:prstGeom>
          <a:solidFill>
            <a:srgbClr val="D65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0" name="Oval 9"/>
          <p:cNvSpPr/>
          <p:nvPr/>
        </p:nvSpPr>
        <p:spPr>
          <a:xfrm>
            <a:off x="11612880" y="201168"/>
            <a:ext cx="182880" cy="18288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1168" y="6172200"/>
            <a:ext cx="182880" cy="18288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612880" y="6172200"/>
            <a:ext cx="182880" cy="1828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C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2118543" y="0"/>
            <a:ext cx="73152" cy="68580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16768" y="6318504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C407A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433756"/>
                </a:solidFill>
              </a:defRPr>
            </a:pPr>
            <a:r>
              <a:t>9. Notifications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433756"/>
                </a:solidFill>
              </a:defRPr>
            </a:pPr>
            <a:r>
              <a:rPr sz="2800"/>
              <a:t>GitHub notifications keep contributors informed about important project events.</a:t>
            </a:r>
          </a:p>
          <a:p>
            <a:pPr>
              <a:spcAft>
                <a:spcPts val="1200"/>
              </a:spcAft>
              <a:defRPr sz="1900" b="0">
                <a:solidFill>
                  <a:srgbClr val="433756"/>
                </a:solidFill>
              </a:defRPr>
            </a:pPr>
            <a:r>
              <a:rPr sz="2800"/>
              <a:t>Common notifications include:</a:t>
            </a:r>
          </a:p>
          <a:p>
            <a:pPr lvl="1">
              <a:spcAft>
                <a:spcPts val="600"/>
              </a:spcAft>
              <a:buFont typeface="Wingdings" pitchFamily="2" charset="2"/>
              <a:buChar char="§"/>
              <a:defRPr sz="1700">
                <a:solidFill>
                  <a:srgbClr val="433756"/>
                </a:solidFill>
              </a:defRPr>
            </a:pPr>
            <a:r>
              <a:rPr sz="2800"/>
              <a:t>New Issues and Pull Requests</a:t>
            </a:r>
          </a:p>
          <a:p>
            <a:pPr lvl="1">
              <a:spcAft>
                <a:spcPts val="600"/>
              </a:spcAft>
              <a:buFont typeface="Wingdings" pitchFamily="2" charset="2"/>
              <a:buChar char="§"/>
              <a:defRPr sz="1700">
                <a:solidFill>
                  <a:srgbClr val="433756"/>
                </a:solidFill>
              </a:defRPr>
            </a:pPr>
            <a:r>
              <a:rPr sz="2800"/>
              <a:t>Comments and mentions</a:t>
            </a:r>
          </a:p>
          <a:p>
            <a:pPr lvl="1">
              <a:spcAft>
                <a:spcPts val="600"/>
              </a:spcAft>
              <a:buFont typeface="Wingdings" pitchFamily="2" charset="2"/>
              <a:buChar char="§"/>
              <a:defRPr sz="1700">
                <a:solidFill>
                  <a:srgbClr val="433756"/>
                </a:solidFill>
              </a:defRPr>
            </a:pPr>
            <a:r>
              <a:rPr sz="2800"/>
              <a:t>Repository invitations</a:t>
            </a:r>
          </a:p>
          <a:p>
            <a:pPr lvl="1">
              <a:spcAft>
                <a:spcPts val="600"/>
              </a:spcAft>
              <a:buFont typeface="Wingdings" pitchFamily="2" charset="2"/>
              <a:buChar char="§"/>
              <a:defRPr sz="1700">
                <a:solidFill>
                  <a:srgbClr val="433756"/>
                </a:solidFill>
              </a:defRPr>
            </a:pPr>
            <a:r>
              <a:rPr sz="2800"/>
              <a:t>Discussion replies</a:t>
            </a:r>
          </a:p>
          <a:p>
            <a:pPr>
              <a:spcAft>
                <a:spcPts val="1200"/>
              </a:spcAft>
              <a:defRPr sz="1900" b="0">
                <a:solidFill>
                  <a:srgbClr val="433756"/>
                </a:solidFill>
              </a:defRPr>
            </a:pPr>
            <a:r>
              <a:rPr sz="2800"/>
              <a:t>Benefits: stay informed, respond quickly, monitor progress, and avoid missing important updates.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00255" y="0"/>
            <a:ext cx="91440" cy="6858000"/>
          </a:xfrm>
          <a:prstGeom prst="rect">
            <a:avLst/>
          </a:prstGeom>
          <a:solidFill>
            <a:srgbClr val="A5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9" name="Oval 8"/>
          <p:cNvSpPr/>
          <p:nvPr/>
        </p:nvSpPr>
        <p:spPr>
          <a:xfrm>
            <a:off x="201168" y="201168"/>
            <a:ext cx="182880" cy="18288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0" name="Oval 9"/>
          <p:cNvSpPr/>
          <p:nvPr/>
        </p:nvSpPr>
        <p:spPr>
          <a:xfrm>
            <a:off x="11612880" y="201168"/>
            <a:ext cx="182880" cy="18288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1168" y="6172200"/>
            <a:ext cx="182880" cy="1828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612880" y="6172200"/>
            <a:ext cx="182880" cy="182880"/>
          </a:xfrm>
          <a:prstGeom prst="ellipse">
            <a:avLst/>
          </a:prstGeom>
          <a:solidFill>
            <a:srgbClr val="A5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2118543" y="0"/>
            <a:ext cx="73152" cy="68580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16768" y="6318504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AB47BC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433756"/>
                </a:solidFill>
              </a:defRPr>
            </a:pPr>
            <a:r>
              <a:t>Collaboration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5544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Ø"/>
              <a:defRPr sz="1700" b="0">
                <a:solidFill>
                  <a:srgbClr val="433756"/>
                </a:solidFill>
              </a:defRPr>
            </a:pPr>
            <a:r>
              <a:rPr sz="2300"/>
              <a:t>Use meaningful branch names and clear commit messages.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Ø"/>
              <a:defRPr sz="1700" b="0">
                <a:solidFill>
                  <a:srgbClr val="433756"/>
                </a:solidFill>
              </a:defRPr>
            </a:pPr>
            <a:r>
              <a:rPr sz="2300"/>
              <a:t>Create Issues for trackable tasks and use labels consistently.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Ø"/>
              <a:defRPr sz="1700" b="0">
                <a:solidFill>
                  <a:srgbClr val="433756"/>
                </a:solidFill>
              </a:defRPr>
            </a:pPr>
            <a:r>
              <a:rPr sz="2300"/>
              <a:t>Use Discussions for questions, announcements, and broader conversations.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Ø"/>
              <a:defRPr sz="1700" b="0">
                <a:solidFill>
                  <a:srgbClr val="433756"/>
                </a:solidFill>
              </a:defRPr>
            </a:pPr>
            <a:r>
              <a:rPr sz="2300"/>
              <a:t>Use Pull Requests for reviewable changes.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Ø"/>
              <a:defRPr sz="1700" b="0">
                <a:solidFill>
                  <a:srgbClr val="433756"/>
                </a:solidFill>
              </a:defRPr>
            </a:pPr>
            <a:r>
              <a:rPr sz="2300"/>
              <a:t>Keep documentation clear, current, and easy to understand.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Ø"/>
              <a:defRPr sz="1700" b="0">
                <a:solidFill>
                  <a:srgbClr val="433756"/>
                </a:solidFill>
              </a:defRPr>
            </a:pPr>
            <a:r>
              <a:rPr sz="2300"/>
              <a:t>Review collaborator permissions periodically.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Ø"/>
              <a:defRPr sz="1700" b="0">
                <a:solidFill>
                  <a:srgbClr val="433756"/>
                </a:solidFill>
              </a:defRPr>
            </a:pPr>
            <a:r>
              <a:rPr sz="2300"/>
              <a:t>Respect copyright, licenses, attribution, and academic integrity.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Ø"/>
              <a:defRPr sz="1700" b="0">
                <a:solidFill>
                  <a:srgbClr val="433756"/>
                </a:solidFill>
              </a:defRPr>
            </a:pPr>
            <a:r>
              <a:rPr sz="2300"/>
              <a:t>Never upload passwords, API keys, private data, or confidential documents.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A5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00255" y="0"/>
            <a:ext cx="91440" cy="68580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9" name="Oval 8"/>
          <p:cNvSpPr/>
          <p:nvPr/>
        </p:nvSpPr>
        <p:spPr>
          <a:xfrm>
            <a:off x="201168" y="201168"/>
            <a:ext cx="182880" cy="18288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0" name="Oval 9"/>
          <p:cNvSpPr/>
          <p:nvPr/>
        </p:nvSpPr>
        <p:spPr>
          <a:xfrm>
            <a:off x="11612880" y="201168"/>
            <a:ext cx="182880" cy="1828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1168" y="6172200"/>
            <a:ext cx="182880" cy="182880"/>
          </a:xfrm>
          <a:prstGeom prst="ellipse">
            <a:avLst/>
          </a:prstGeom>
          <a:solidFill>
            <a:srgbClr val="A5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612880" y="6172200"/>
            <a:ext cx="182880" cy="18288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2118543" y="0"/>
            <a:ext cx="73152" cy="6858000"/>
          </a:xfrm>
          <a:prstGeom prst="rect">
            <a:avLst/>
          </a:prstGeom>
          <a:solidFill>
            <a:srgbClr val="EC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16768" y="6318504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9688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433756"/>
                </a:solidFill>
              </a:defRPr>
            </a:pPr>
            <a:r>
              <a:t>Team Workflow: A Simple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148840"/>
            <a:ext cx="1600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17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B175BF"/>
                </a:solidFill>
              </a:defRPr>
            </a:pPr>
            <a:r>
              <a:t>Plan</a:t>
            </a:r>
          </a:p>
          <a:p>
            <a:pPr algn="ctr">
              <a:defRPr sz="1200">
                <a:solidFill>
                  <a:srgbClr val="433756"/>
                </a:solidFill>
              </a:defRPr>
            </a:pPr>
            <a:r>
              <a:t>Create Issue</a:t>
            </a:r>
          </a:p>
        </p:txBody>
      </p:sp>
      <p:sp>
        <p:nvSpPr>
          <p:cNvPr id="5" name="Chevron 4"/>
          <p:cNvSpPr/>
          <p:nvPr/>
        </p:nvSpPr>
        <p:spPr>
          <a:xfrm>
            <a:off x="2039112" y="2578608"/>
            <a:ext cx="256032" cy="502920"/>
          </a:xfrm>
          <a:prstGeom prst="chevron">
            <a:avLst/>
          </a:prstGeom>
          <a:solidFill>
            <a:srgbClr val="EFE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350008" y="2148840"/>
            <a:ext cx="1600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17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B175BF"/>
                </a:solidFill>
              </a:defRPr>
            </a:pPr>
            <a:r>
              <a:t>Work</a:t>
            </a:r>
          </a:p>
          <a:p>
            <a:pPr algn="ctr">
              <a:defRPr sz="1200">
                <a:solidFill>
                  <a:srgbClr val="433756"/>
                </a:solidFill>
              </a:defRPr>
            </a:pPr>
            <a:r>
              <a:t>Create branch / fork</a:t>
            </a:r>
          </a:p>
        </p:txBody>
      </p:sp>
      <p:sp>
        <p:nvSpPr>
          <p:cNvPr id="7" name="Chevron 6"/>
          <p:cNvSpPr/>
          <p:nvPr/>
        </p:nvSpPr>
        <p:spPr>
          <a:xfrm>
            <a:off x="3977640" y="2578608"/>
            <a:ext cx="256032" cy="502920"/>
          </a:xfrm>
          <a:prstGeom prst="chevron">
            <a:avLst/>
          </a:prstGeom>
          <a:solidFill>
            <a:srgbClr val="EFE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288536" y="2148840"/>
            <a:ext cx="1600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17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B175BF"/>
                </a:solidFill>
              </a:defRPr>
            </a:pPr>
            <a:r>
              <a:t>Change</a:t>
            </a:r>
          </a:p>
          <a:p>
            <a:pPr algn="ctr">
              <a:defRPr sz="1200">
                <a:solidFill>
                  <a:srgbClr val="433756"/>
                </a:solidFill>
              </a:defRPr>
            </a:pPr>
            <a:r>
              <a:t>Edit files</a:t>
            </a:r>
          </a:p>
        </p:txBody>
      </p:sp>
      <p:sp>
        <p:nvSpPr>
          <p:cNvPr id="9" name="Chevron 8"/>
          <p:cNvSpPr/>
          <p:nvPr/>
        </p:nvSpPr>
        <p:spPr>
          <a:xfrm>
            <a:off x="5916168" y="2578608"/>
            <a:ext cx="256032" cy="502920"/>
          </a:xfrm>
          <a:prstGeom prst="chevron">
            <a:avLst/>
          </a:prstGeom>
          <a:solidFill>
            <a:srgbClr val="EFE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27064" y="2148840"/>
            <a:ext cx="1600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17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B175BF"/>
                </a:solidFill>
              </a:defRPr>
            </a:pPr>
            <a:r>
              <a:t>Review</a:t>
            </a:r>
          </a:p>
          <a:p>
            <a:pPr algn="ctr">
              <a:defRPr sz="1200">
                <a:solidFill>
                  <a:srgbClr val="433756"/>
                </a:solidFill>
              </a:defRPr>
            </a:pPr>
            <a:r>
              <a:t>Open Pull Request</a:t>
            </a:r>
          </a:p>
        </p:txBody>
      </p:sp>
      <p:sp>
        <p:nvSpPr>
          <p:cNvPr id="11" name="Chevron 10"/>
          <p:cNvSpPr/>
          <p:nvPr/>
        </p:nvSpPr>
        <p:spPr>
          <a:xfrm>
            <a:off x="7854696" y="2578608"/>
            <a:ext cx="256032" cy="502920"/>
          </a:xfrm>
          <a:prstGeom prst="chevron">
            <a:avLst/>
          </a:prstGeom>
          <a:solidFill>
            <a:srgbClr val="EFE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165592" y="2148840"/>
            <a:ext cx="1600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17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B175BF"/>
                </a:solidFill>
              </a:defRPr>
            </a:pPr>
            <a:r>
              <a:t>Improve</a:t>
            </a:r>
          </a:p>
          <a:p>
            <a:pPr algn="ctr">
              <a:defRPr sz="1200">
                <a:solidFill>
                  <a:srgbClr val="433756"/>
                </a:solidFill>
              </a:defRPr>
            </a:pPr>
            <a:r>
              <a:t>Comments &amp; revisions</a:t>
            </a:r>
          </a:p>
        </p:txBody>
      </p:sp>
      <p:sp>
        <p:nvSpPr>
          <p:cNvPr id="13" name="Chevron 12"/>
          <p:cNvSpPr/>
          <p:nvPr/>
        </p:nvSpPr>
        <p:spPr>
          <a:xfrm>
            <a:off x="9793224" y="2578608"/>
            <a:ext cx="256032" cy="502920"/>
          </a:xfrm>
          <a:prstGeom prst="chevron">
            <a:avLst/>
          </a:prstGeom>
          <a:solidFill>
            <a:srgbClr val="EFE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04120" y="2148840"/>
            <a:ext cx="1600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17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B175BF"/>
                </a:solidFill>
              </a:defRPr>
            </a:pPr>
            <a:r>
              <a:t>Merge</a:t>
            </a:r>
          </a:p>
          <a:p>
            <a:pPr algn="ctr">
              <a:defRPr sz="1200">
                <a:solidFill>
                  <a:srgbClr val="433756"/>
                </a:solidFill>
              </a:defRPr>
            </a:pPr>
            <a:r>
              <a:t>Approve &amp; merge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1605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433756"/>
                </a:solidFill>
              </a:defRPr>
            </a:pPr>
            <a:r>
              <a:t>Result: a transparent, reviewable, and traceable collaboration process.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A5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2100255" y="0"/>
            <a:ext cx="91440" cy="6858000"/>
          </a:xfrm>
          <a:prstGeom prst="rect">
            <a:avLst/>
          </a:prstGeom>
          <a:solidFill>
            <a:srgbClr val="D65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0" name="Oval 19"/>
          <p:cNvSpPr/>
          <p:nvPr/>
        </p:nvSpPr>
        <p:spPr>
          <a:xfrm>
            <a:off x="201168" y="201168"/>
            <a:ext cx="182880" cy="1828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612880" y="201168"/>
            <a:ext cx="182880" cy="182880"/>
          </a:xfrm>
          <a:prstGeom prst="ellipse">
            <a:avLst/>
          </a:prstGeom>
          <a:solidFill>
            <a:srgbClr val="A5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2" name="Oval 21"/>
          <p:cNvSpPr/>
          <p:nvPr/>
        </p:nvSpPr>
        <p:spPr>
          <a:xfrm>
            <a:off x="201168" y="6172200"/>
            <a:ext cx="182880" cy="18288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612880" y="6172200"/>
            <a:ext cx="182880" cy="182880"/>
          </a:xfrm>
          <a:prstGeom prst="ellipse">
            <a:avLst/>
          </a:prstGeom>
          <a:solidFill>
            <a:srgbClr val="D65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2118543" y="0"/>
            <a:ext cx="73152" cy="68580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716768" y="6318504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7E57C2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433756"/>
                </a:solidFill>
              </a:defRPr>
            </a:pPr>
            <a:r>
              <a:t>Quick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5390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  <a:defRPr sz="1900" b="0">
                <a:solidFill>
                  <a:srgbClr val="433756"/>
                </a:solidFill>
              </a:defRPr>
            </a:pPr>
            <a:r>
              <a:rPr sz="2400"/>
              <a:t>Repository sharing controls who can access project content.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  <a:defRPr sz="1900" b="0">
                <a:solidFill>
                  <a:srgbClr val="433756"/>
                </a:solidFill>
              </a:defRPr>
            </a:pPr>
            <a:r>
              <a:rPr sz="2400"/>
              <a:t>Collaborators work directly within a shared repository.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  <a:defRPr sz="1900" b="0">
                <a:solidFill>
                  <a:srgbClr val="433756"/>
                </a:solidFill>
              </a:defRPr>
            </a:pPr>
            <a:r>
              <a:rPr sz="2400"/>
              <a:t>Issues track tasks and problems; Discussions support open-ended conversation.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  <a:defRPr sz="1900" b="0">
                <a:solidFill>
                  <a:srgbClr val="433756"/>
                </a:solidFill>
              </a:defRPr>
            </a:pPr>
            <a:r>
              <a:rPr sz="2400"/>
              <a:t>Branches isolate work; forks create personal copies for independent contribution.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  <a:defRPr sz="1900" b="0">
                <a:solidFill>
                  <a:srgbClr val="433756"/>
                </a:solidFill>
              </a:defRPr>
            </a:pPr>
            <a:r>
              <a:rPr sz="2400"/>
              <a:t>Pull Requests enable review before merging changes.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  <a:defRPr sz="1900" b="0">
                <a:solidFill>
                  <a:srgbClr val="433756"/>
                </a:solidFill>
              </a:defRPr>
            </a:pPr>
            <a:r>
              <a:rPr sz="2400"/>
              <a:t>Notifications help team members stay updated.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  <a:defRPr sz="1900" b="0">
                <a:solidFill>
                  <a:srgbClr val="433756"/>
                </a:solidFill>
              </a:defRPr>
            </a:pPr>
            <a:r>
              <a:rPr sz="2400"/>
              <a:t>Good collaboration includes security, licensing, attribution, and academic integrity.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65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00255" y="0"/>
            <a:ext cx="91440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9" name="Oval 8"/>
          <p:cNvSpPr/>
          <p:nvPr/>
        </p:nvSpPr>
        <p:spPr>
          <a:xfrm>
            <a:off x="201168" y="201168"/>
            <a:ext cx="182880" cy="182880"/>
          </a:xfrm>
          <a:prstGeom prst="ellipse">
            <a:avLst/>
          </a:prstGeom>
          <a:solidFill>
            <a:srgbClr val="A5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0" name="Oval 9"/>
          <p:cNvSpPr/>
          <p:nvPr/>
        </p:nvSpPr>
        <p:spPr>
          <a:xfrm>
            <a:off x="11612880" y="201168"/>
            <a:ext cx="182880" cy="18288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1168" y="6172200"/>
            <a:ext cx="182880" cy="182880"/>
          </a:xfrm>
          <a:prstGeom prst="ellipse">
            <a:avLst/>
          </a:prstGeom>
          <a:solidFill>
            <a:srgbClr val="D65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612880" y="6172200"/>
            <a:ext cx="182880" cy="18288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C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2118543" y="0"/>
            <a:ext cx="7315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16768" y="6318504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2A5F5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433756"/>
                </a:solidFill>
              </a:defRPr>
            </a:pPr>
            <a:r>
              <a:t>Activity: Collaborate on a Documentation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Font typeface="Wingdings" pitchFamily="2" charset="2"/>
              <a:buChar char="Ø"/>
              <a:defRPr sz="1800" b="0">
                <a:solidFill>
                  <a:srgbClr val="433756"/>
                </a:solidFill>
              </a:defRPr>
            </a:pPr>
            <a:r>
              <a:rPr sz="2400"/>
              <a:t>Form a team of 3–4 students.</a:t>
            </a:r>
          </a:p>
          <a:p>
            <a:pPr>
              <a:spcAft>
                <a:spcPts val="1200"/>
              </a:spcAft>
              <a:buFont typeface="Wingdings" pitchFamily="2" charset="2"/>
              <a:buChar char="Ø"/>
              <a:defRPr sz="1800" b="0">
                <a:solidFill>
                  <a:srgbClr val="433756"/>
                </a:solidFill>
              </a:defRPr>
            </a:pPr>
            <a:r>
              <a:rPr sz="2400"/>
              <a:t>Create or use a GitHub repository for a small documentation project.</a:t>
            </a:r>
          </a:p>
          <a:p>
            <a:pPr>
              <a:spcAft>
                <a:spcPts val="1200"/>
              </a:spcAft>
              <a:buFont typeface="Wingdings" pitchFamily="2" charset="2"/>
              <a:buChar char="Ø"/>
              <a:defRPr sz="1800" b="0">
                <a:solidFill>
                  <a:srgbClr val="433756"/>
                </a:solidFill>
              </a:defRPr>
            </a:pPr>
            <a:r>
              <a:rPr sz="2400"/>
              <a:t>Create one Issue for a documentation task.</a:t>
            </a:r>
          </a:p>
          <a:p>
            <a:pPr>
              <a:spcAft>
                <a:spcPts val="1200"/>
              </a:spcAft>
              <a:buFont typeface="Wingdings" pitchFamily="2" charset="2"/>
              <a:buChar char="Ø"/>
              <a:defRPr sz="1800" b="0">
                <a:solidFill>
                  <a:srgbClr val="433756"/>
                </a:solidFill>
              </a:defRPr>
            </a:pPr>
            <a:r>
              <a:rPr sz="2400"/>
              <a:t>Create a branch and make a meaningful change.</a:t>
            </a:r>
          </a:p>
          <a:p>
            <a:pPr>
              <a:spcAft>
                <a:spcPts val="1200"/>
              </a:spcAft>
              <a:buFont typeface="Wingdings" pitchFamily="2" charset="2"/>
              <a:buChar char="Ø"/>
              <a:defRPr sz="1800" b="0">
                <a:solidFill>
                  <a:srgbClr val="433756"/>
                </a:solidFill>
              </a:defRPr>
            </a:pPr>
            <a:r>
              <a:rPr sz="2400"/>
              <a:t>Open a Pull Request and ask a teammate to review it.</a:t>
            </a:r>
          </a:p>
          <a:p>
            <a:pPr>
              <a:spcAft>
                <a:spcPts val="1200"/>
              </a:spcAft>
              <a:buFont typeface="Wingdings" pitchFamily="2" charset="2"/>
              <a:buChar char="Ø"/>
              <a:defRPr sz="1800" b="0">
                <a:solidFill>
                  <a:srgbClr val="433756"/>
                </a:solidFill>
              </a:defRPr>
            </a:pPr>
            <a:r>
              <a:rPr sz="2400"/>
              <a:t>Use comments to suggest one improvement.</a:t>
            </a:r>
          </a:p>
          <a:p>
            <a:pPr>
              <a:spcAft>
                <a:spcPts val="1200"/>
              </a:spcAft>
              <a:buFont typeface="Wingdings" pitchFamily="2" charset="2"/>
              <a:buChar char="Ø"/>
              <a:defRPr sz="1800" b="0">
                <a:solidFill>
                  <a:srgbClr val="433756"/>
                </a:solidFill>
              </a:defRPr>
            </a:pPr>
            <a:r>
              <a:rPr sz="2400"/>
              <a:t>Merge the approved Pull Request.</a:t>
            </a:r>
          </a:p>
          <a:p>
            <a:pPr>
              <a:spcAft>
                <a:spcPts val="1200"/>
              </a:spcAft>
              <a:buFont typeface="Wingdings" pitchFamily="2" charset="2"/>
              <a:buChar char="Ø"/>
              <a:defRPr sz="1800" b="0">
                <a:solidFill>
                  <a:srgbClr val="433756"/>
                </a:solidFill>
              </a:defRPr>
            </a:pPr>
            <a:r>
              <a:rPr sz="2400" b="1">
                <a:solidFill>
                  <a:srgbClr val="FF0000"/>
                </a:solidFill>
              </a:rPr>
              <a:t>Discuss: What was easier with GitHub than sharing files through email?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D65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00255" y="0"/>
            <a:ext cx="91440" cy="6858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9" name="Oval 8"/>
          <p:cNvSpPr/>
          <p:nvPr/>
        </p:nvSpPr>
        <p:spPr>
          <a:xfrm>
            <a:off x="201168" y="201168"/>
            <a:ext cx="182880" cy="18288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0" name="Oval 9"/>
          <p:cNvSpPr/>
          <p:nvPr/>
        </p:nvSpPr>
        <p:spPr>
          <a:xfrm>
            <a:off x="11612880" y="201168"/>
            <a:ext cx="182880" cy="182880"/>
          </a:xfrm>
          <a:prstGeom prst="ellipse">
            <a:avLst/>
          </a:prstGeom>
          <a:solidFill>
            <a:srgbClr val="D65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1168" y="6172200"/>
            <a:ext cx="182880" cy="18288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612880" y="6172200"/>
            <a:ext cx="182880" cy="18288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2118543" y="0"/>
            <a:ext cx="73152" cy="685800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16768" y="6318504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6C6DA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949</Words>
  <Application>Microsoft Macintosh PowerPoint</Application>
  <PresentationFormat>Custom</PresentationFormat>
  <Paragraphs>177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admin</cp:lastModifiedBy>
  <cp:revision>4</cp:revision>
  <dcterms:created xsi:type="dcterms:W3CDTF">2013-01-27T09:14:16Z</dcterms:created>
  <dcterms:modified xsi:type="dcterms:W3CDTF">2026-08-24T06:14:26Z</dcterms:modified>
  <cp:category/>
</cp:coreProperties>
</file>